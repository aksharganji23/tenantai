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tenantAI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Secure multi-tenant AI knowledge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6492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EFF6FF"/>
                </a:solidFill>
                <a:latin typeface="Aptos"/>
              </a:rPr>
              <a:t>Company knowledge.
Grounded answers.
Provable isolation.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6766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FB0C9"/>
                </a:solidFill>
                <a:latin typeface="Aptos"/>
              </a:rPr>
              <a:t>tenantAI converts private company documents into a searchable AI assistant with citations, role-based access, tenant isolation, and audit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1417320" cy="10972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837944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221992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Cited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1691640"/>
            <a:ext cx="1417320" cy="10972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40112" y="1837944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2221992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Role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63240"/>
            <a:ext cx="1417320" cy="10972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209544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404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593592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Hidden IDOR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3063240"/>
            <a:ext cx="1417320" cy="10972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0112" y="3209544"/>
            <a:ext cx="10881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3593592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Verified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06440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TriCity AI Hackathon | SaaSsum AI track | Jury-ready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Why traditional knowledge access is slow, uncertain, and risky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60604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4650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Fragmented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2276856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Manual search across PDFs, manuals, emails, and policies creates duplicated effort and inconsistent answers.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60604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74650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Slow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130552"/>
            <a:ext cx="2276856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Support and operations teams spend time finding information instead of acting on verified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260604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4650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AI trust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30552"/>
            <a:ext cx="2276856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A fluent answer without a source is difficult to approve, explain, or correct when company policy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600200"/>
            <a:ext cx="2606040" cy="35204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746504"/>
            <a:ext cx="22768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Data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130552"/>
            <a:ext cx="2276856" cy="2862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A shared search index or missing tenant filter can expose one company's confidential documents to another.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DD4BF"/>
                </a:solidFill>
                <a:latin typeface="Aptos"/>
              </a:rPr>
              <a:t>Core challenge: make enterprise AI useful without sacrificing evidence, ownership, or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A verified, tenant-scoped, citation-first AI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Verify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7128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1136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Resolve tenant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2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Upload 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Retrieve owned chunks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6096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0104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54696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Answer with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45752" y="1920240"/>
            <a:ext cx="169164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2011680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066544"/>
            <a:ext cx="1417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Audit event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657600"/>
            <a:ext cx="33832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8039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Useful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187952"/>
            <a:ext cx="305409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Ask natural-language questions instead of searching folders manually.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3657600"/>
            <a:ext cx="33832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38039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Explainable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87952"/>
            <a:ext cx="305409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Answers include source document/page evidence and retrieval metadata.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7575" y="3657600"/>
            <a:ext cx="3383280" cy="14173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7" y="38039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Defensible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7" y="4187952"/>
            <a:ext cx="305409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The backend enforces tenant ownership before data is retrieved or changed.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6692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C9"/>
                </a:solidFill>
                <a:latin typeface="Aptos"/>
              </a:rPr>
              <a:t>The platform refuses unsupported questions rather than presenting unrelated or invented company 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Key features and user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The MVP covers the complete company knowledge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00784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84831"/>
            <a:ext cx="2368296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Registration
Email OTP verification
Bcrypt password hashing
JWT session
Role-based access
Value: only verified users enter protected workspaces.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9748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700784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084831"/>
            <a:ext cx="2368296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PDF/TXT/MD upload
File validation and quotas
Text extraction
Chunking and embeddings
READY/FAILED status
Value: approved material becomes searchable.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269748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700784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AI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84831"/>
            <a:ext cx="2368296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Tenant-scoped RAG
Conversation history
Page citations
Confidence and latency
Out-of-domain refusal
Value: answers are useful and traceable.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54480"/>
            <a:ext cx="2697480" cy="37947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700784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084831"/>
            <a:ext cx="2368296" cy="3136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Audit and telemetry
Tenant quotas
Admin center
Security events
IDOR simulator
Value: operators can prove system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Practical tools selected for speed, clarity, and a production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2743200" cy="14630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46504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130552"/>
            <a:ext cx="24140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Next.js 16
React 19
TypeScript
Tailwind CSS
Lucide icons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743200" cy="14630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746504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130552"/>
            <a:ext cx="24140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Python
FastAPI
Uvicorn
Pydantic v2
JWT + bcrypt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600200"/>
            <a:ext cx="2743200" cy="14630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1746504"/>
            <a:ext cx="2414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Data and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130552"/>
            <a:ext cx="24140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SQLAlchemy
SQLite local mode
PostgreSQL + pgvector path
Semantic embeddings
Grounded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1600200"/>
            <a:ext cx="2103120" cy="146304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746504"/>
            <a:ext cx="17739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2912" y="2130552"/>
            <a:ext cx="1773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Docker Compose
Render blueprint
SMTP OTP
Telegram worker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FF6FF"/>
                </a:solidFill>
                <a:latin typeface="Aptos"/>
              </a:rPr>
              <a:t>Design principle: keep the local demo zero-dependency where possible, while preserving a clear PostgreSQL, storage, and worker path for production.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C9"/>
                </a:solidFill>
                <a:latin typeface="Aptos"/>
              </a:rPr>
              <a:t>Security tooling: server-side tenant guards, strict CORS, production secret validation, redacted logs, security headers, and automated regression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The browser requests; the backend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33172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0078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Next.js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84831"/>
            <a:ext cx="2002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Dashboard, chat, documents, admin,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54480"/>
            <a:ext cx="233172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70078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FastAPI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084831"/>
            <a:ext cx="2002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JWT, RBAC, tenant guards,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233172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70078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084831"/>
            <a:ext cx="2002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Tenants, users, docs, chunks, messages,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554480"/>
            <a:ext cx="2331720" cy="132588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700784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RAG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2084831"/>
            <a:ext cx="200253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6FF"/>
                </a:solidFill>
                <a:latin typeface="Aptos"/>
              </a:rPr>
              <a:t>Scoped retrieval, grounded response,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Request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57984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1991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Authenticate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04487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8496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Authorize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0992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9592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Filter tenant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496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1504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Retrieve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3999" y="3657600"/>
            <a:ext cx="1600200" cy="822960"/>
          </a:xfrm>
          <a:prstGeom prst="roundRect">
            <a:avLst/>
          </a:prstGeom>
          <a:solidFill>
            <a:srgbClr val="152642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8007" y="3749039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599" y="3803904"/>
            <a:ext cx="1325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FF6FF"/>
                </a:solidFill>
                <a:latin typeface="Aptos"/>
              </a:rPr>
              <a:t>Respond +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FF6FF"/>
                </a:solidFill>
                <a:latin typeface="Aptos"/>
              </a:rPr>
              <a:t>Security invariant: tenant_id is derived from the verified identity. Client-supplied tenant IDs are not trusted for regular 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Traditional approach vs tenantAI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The product difference is visible across the entire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828800" cy="438912"/>
          </a:xfrm>
          <a:prstGeom prst="rect">
            <a:avLst/>
          </a:prstGeom>
          <a:solidFill>
            <a:srgbClr val="152642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00200"/>
            <a:ext cx="16093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81328"/>
            <a:ext cx="4069080" cy="438912"/>
          </a:xfrm>
          <a:prstGeom prst="rect">
            <a:avLst/>
          </a:prstGeom>
          <a:solidFill>
            <a:srgbClr val="152642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600200"/>
            <a:ext cx="38496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Traditional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481328"/>
            <a:ext cx="5074920" cy="438912"/>
          </a:xfrm>
          <a:prstGeom prst="rect">
            <a:avLst/>
          </a:prstGeom>
          <a:solidFill>
            <a:srgbClr val="152642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600200"/>
            <a:ext cx="48554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"/>
              </a:rPr>
              <a:t>tenantAI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920240"/>
            <a:ext cx="182880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039112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920240"/>
            <a:ext cx="406908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78608" y="2039112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Folders, PDFs, keyword 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1920240"/>
            <a:ext cx="507492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8" y="2039112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Natural-language semantic 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478024"/>
            <a:ext cx="182880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2596896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2478024"/>
            <a:ext cx="406908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2596896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Manual interpretation or generic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2478024"/>
            <a:ext cx="507492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39128" y="2596896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Grounded answer from owned documents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035808"/>
            <a:ext cx="182880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154680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80" y="3035808"/>
            <a:ext cx="406908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8608" y="3154680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Source verification is manual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035808"/>
            <a:ext cx="507492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3154680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Document/page citations included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593592"/>
            <a:ext cx="182880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712464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Tenancy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3593592"/>
            <a:ext cx="406908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8608" y="3712464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Separate systems or fragile filters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3593592"/>
            <a:ext cx="507492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9128" y="3712464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Server-side tenant predicates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151376"/>
            <a:ext cx="182880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4270248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Security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4151376"/>
            <a:ext cx="406908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78608" y="4270248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Login may be the main control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4151376"/>
            <a:ext cx="507492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39128" y="4270248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OTP, JWT, RBAC, ownership checks, hidden 404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709160"/>
            <a:ext cx="182880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" y="4828032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Governance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4709160"/>
            <a:ext cx="406908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8608" y="4828032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Limited access visibility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0" y="4709160"/>
            <a:ext cx="5074920" cy="530352"/>
          </a:xfrm>
          <a:prstGeom prst="rect">
            <a:avLst/>
          </a:prstGeom>
          <a:solidFill>
            <a:srgbClr val="070D1B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39128" y="4828032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Audit events, latency, tokens, outcomes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266944"/>
            <a:ext cx="182880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5385816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Failure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0" y="5266944"/>
            <a:ext cx="406908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8608" y="5385816"/>
            <a:ext cx="3849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EFF6FF"/>
                </a:solidFill>
                <a:latin typeface="Aptos"/>
              </a:rPr>
              <a:t>May return irrelevant content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5266944"/>
            <a:ext cx="5074920" cy="530352"/>
          </a:xfrm>
          <a:prstGeom prst="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39128" y="5385816"/>
            <a:ext cx="485546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Explicit refusal when evidence is absent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Aptos"/>
              </a:rPr>
              <a:t>Traditional systems answer “where is the file?” tenantAI answers “what does our verified knowledge say, and can we prove it?”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Security proof: the IDOR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A live demonstration of Company A attempting to access Company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38328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465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171"/>
                </a:solidFill>
                <a:latin typeface="Aptos"/>
              </a:rPr>
              <a:t>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30552"/>
            <a:ext cx="3054096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Company A changes a document or conversation ID to target Company B.
The request is intentionally modeled as an Insecure Direct Object Reference attempt.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38328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465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Backend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30552"/>
            <a:ext cx="3054096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The server uses the authenticated JWT tenant and ownership filters.
The browser cannot override tenant scope through a URL or request body.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383280" cy="34747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46504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Observed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30552"/>
            <a:ext cx="3054096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6FF"/>
                </a:solidFill>
                <a:latin typeface="Aptos"/>
              </a:rPr>
              <a:t>HTTP 404
0 bytes leaked
cross_tenant_denied audit event
404 hides resource existence instead of confirming another tenant's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FB0C9"/>
                </a:solidFill>
                <a:latin typeface="Aptos"/>
              </a:rPr>
              <a:t>The simulator is restricted to SuperAdmin and is a controlled proof of isolation—not a normal end-user feature.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Jury demo flow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A short sequence that shows usefulness and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173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Login as TechNova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Use the demo account and show its private knowledge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7568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Ask warranty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75688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Show grounded answer with UltraBook manual citation.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7340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Switch to GreenLeaf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34056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Show a different company workspace and document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39242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924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Ask foreign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92424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Show refusal and zero TechNova citations.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50791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5079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Run IDOR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0791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Show HTTP 404, no leaked data, and security event.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59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0915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6FF"/>
                </a:solidFill>
                <a:latin typeface="Aptos"/>
              </a:rPr>
              <a:t>Open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09159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FB0C9"/>
                </a:solidFill>
                <a:latin typeface="Aptos"/>
              </a:rPr>
              <a:t>Explain actor, tenant, action, outcome, latency, and redaction.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32120"/>
            <a:ext cx="4754880" cy="5029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67842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TechNova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6062472"/>
            <a:ext cx="4425696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admin@technova.com  |  DemoPass123!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5532120"/>
            <a:ext cx="4754880" cy="50292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5678424"/>
            <a:ext cx="44256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GreenLeaf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1" y="6062472"/>
            <a:ext cx="4425696" cy="-1554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FF6FF"/>
                </a:solidFill>
                <a:latin typeface="Aptos"/>
              </a:rPr>
              <a:t>admin@greenleaf.com  |  DemoPass123!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DD4BF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47548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F6FF"/>
                </a:solidFill>
                <a:latin typeface="Aptos"/>
              </a:rPr>
              <a:t>Conclusion and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FB0C9"/>
                </a:solidFill>
                <a:latin typeface="Aptos"/>
              </a:rPr>
              <a:t>Secure foundations first; scale only what can be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47104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FB0C9"/>
                </a:solidFill>
                <a:latin typeface="Aptos"/>
              </a:rPr>
              <a:t>tenantAI  |  jury presentation  |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00784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Aptos"/>
              </a:rPr>
              <a:t>What is working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84831"/>
            <a:ext cx="3145536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Tenant-scoped authentication
Document upload and processing
Grounded RAG with citations
Conversation history
Audit telemetry
IDOR security demonstration
Accessible responsive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00784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Aptos"/>
              </a:rPr>
              <a:t>Next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84831"/>
            <a:ext cx="3145536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Alembic migrations
Private object storage
Rate limiting and WAF
Dependency scanning
Async workers and OCR
Verified Render deployment
Backups and alerting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474720" cy="3566160"/>
          </a:xfrm>
          <a:prstGeom prst="roundRect">
            <a:avLst/>
          </a:prstGeom>
          <a:solidFill>
            <a:srgbClr val="101B30"/>
          </a:solidFill>
          <a:ln>
            <a:solidFill>
              <a:srgbClr val="30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700784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Aptos"/>
              </a:rPr>
              <a:t>Long-term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084831"/>
            <a:ext cx="3145536" cy="29077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FF6FF"/>
                </a:solidFill>
                <a:latin typeface="Aptos"/>
              </a:rPr>
              <a:t>SSO and MFA
Slack/Teams/Telegram channels
Hybrid search and reranking
Compliance controls
Usage billing
Enterprise knowledge operating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tenantAI is not only a chatbot—it is a secure, auditable knowledge layer for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